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cd9dccb-4f90-3204-5917-ce954225baa8}">
          <p14:sldIdLst>
            <p14:sldId id="256"/>
            <p14:sldId id="257"/>
          </p14:sldIdLst>
        </p14:section>
        <p14:section name="Method" id="{38eb6251-09b5-95ee-be5b-725337230314}">
          <p14:sldIdLst>
            <p14:sldId id="258"/>
          </p14:sldIdLst>
        </p14:section>
        <p14:section name="Results" id="{01946111-f4ae-39cd-53cb-99bf0c78251a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onclusion" id="{34d01e03-2576-da8e-49c2-81dcce04ce9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55B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2355B"/>
                </a:solidFill>
                <a:latin typeface="+mj-lt"/>
              </a:rPr>
              <a:t>Relationship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Depressed (%)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Single (n=192)</c:v>
                  </c:pt>
                  <c:pt idx="1">
                    <c:v>In a relationship (n=97)</c:v>
                  </c:pt>
                  <c:pt idx="2">
                    <c:v>Complicated (n=11)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42.2</c:v>
                </c:pt>
                <c:pt idx="1">
                  <c:v>8.2</c:v>
                </c:pt>
                <c:pt idx="2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DDE5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55B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2355B"/>
                </a:solidFill>
                <a:latin typeface="+mj-lt"/>
              </a:rPr>
              <a:t>Family background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Depressed (%)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Lower-middle (n=57)</c:v>
                  </c:pt>
                  <c:pt idx="1">
                    <c:v>Middle (n=193)</c:v>
                  </c:pt>
                  <c:pt idx="2">
                    <c:v>Rich (n=50)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19.3</c:v>
                </c:pt>
                <c:pt idx="1">
                  <c:v>35.8</c:v>
                </c:pt>
                <c:pt idx="2">
                  <c:v>18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DDE5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55B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2355B"/>
                </a:solidFill>
                <a:latin typeface="+mj-lt"/>
              </a:rPr>
              <a:t>Living style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Depressed (%)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Bachelor (n=184)</c:v>
                  </c:pt>
                  <c:pt idx="1">
                    <c:v>With family (n=116)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33.7</c:v>
                </c:pt>
                <c:pt idx="1">
                  <c:v>23.3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DDE5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55B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2355B"/>
                </a:solidFill>
                <a:latin typeface="+mj-lt"/>
              </a:rPr>
              <a:t>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Depressed (%)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 (n=156)</c:v>
                  </c:pt>
                  <c:pt idx="1">
                    <c:v>Male (n=144)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27.6</c:v>
                </c:pt>
                <c:pt idx="1">
                  <c:v>31.9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DDE5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55B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2355B"/>
                </a:solidFill>
                <a:latin typeface="+mj-lt"/>
              </a:rPr>
              <a:t>Share of students by depression status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Depressed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[&lt;5]&quot;&quot;;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Good (n=86)</c:v>
                  </c:pt>
                  <c:pt idx="1">
                    <c:v>Normal (n=102)</c:v>
                  </c:pt>
                  <c:pt idx="2">
                    <c:v>Abnormal (n=64)</c:v>
                  </c:pt>
                  <c:pt idx="3">
                    <c:v>Critical (n=48)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2.9</c:v>
                </c:pt>
                <c:pt idx="2">
                  <c:v>59.4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depressed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[&lt;5]&quot;&quot;;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Good (n=86)</c:v>
                  </c:pt>
                  <c:pt idx="1">
                    <c:v>Normal (n=102)</c:v>
                  </c:pt>
                  <c:pt idx="2">
                    <c:v>Abnormal (n=64)</c:v>
                  </c:pt>
                  <c:pt idx="3">
                    <c:v>Critical (n=48)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97.1</c:v>
                </c:pt>
                <c:pt idx="2">
                  <c:v>40.6</c:v>
                </c:pt>
                <c:pt idx="3">
                  <c:v>0</c:v>
                </c:pt>
              </c:numCache>
            </c:numRef>
          </c:val>
        </c:ser>
        <c:dLbls>
          <c:numFmt formatCode="[&lt;5]&quot;&quot;;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DE5E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55B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2355B"/>
                </a:solidFill>
                <a:latin typeface="+mj-lt"/>
              </a:rPr>
              <a:t>Logit average marginal effects (percentage points)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Significant at 5%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+0.0;-0.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Male</c:v>
                  </c:pt>
                  <c:pt idx="1">
                    <c:v>Age (years)</c:v>
                  </c:pt>
                  <c:pt idx="2">
                    <c:v>CGPA</c:v>
                  </c:pt>
                  <c:pt idx="3">
                    <c:v>Current semester</c:v>
                  </c:pt>
                  <c:pt idx="4">
                    <c:v>Monthly cost ('000)</c:v>
                  </c:pt>
                  <c:pt idx="5">
                    <c:v>Lower-middle class</c:v>
                  </c:pt>
                  <c:pt idx="6">
                    <c:v>Rich class</c:v>
                  </c:pt>
                  <c:pt idx="7">
                    <c:v>Single</c:v>
                  </c:pt>
                  <c:pt idx="8">
                    <c:v>Ever married</c:v>
                  </c:pt>
                  <c:pt idx="9">
                    <c:v>Lives with family</c:v>
                  </c:pt>
                  <c:pt idx="10">
                    <c:v>Has friend circle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-10.7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1.15</c:v>
                </c:pt>
                <c:pt idx="5">
                  <c:v>0</c:v>
                </c:pt>
                <c:pt idx="6">
                  <c:v>-17.16</c:v>
                </c:pt>
                <c:pt idx="7">
                  <c:v>36.43</c:v>
                </c:pt>
                <c:pt idx="8">
                  <c:v>-16.43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significant</c:v>
                </c:pt>
              </c:strCache>
            </c:strRef>
          </c:tx>
          <c:spPr>
            <a:solidFill>
              <a:srgbClr val="8AB6BF"/>
            </a:solidFill>
            <a:effectLst/>
          </c:spPr>
          <c:invertIfNegative val="0"/>
          <c:dLbls>
            <c:numFmt formatCode="+0.0;-0.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Male</c:v>
                  </c:pt>
                  <c:pt idx="1">
                    <c:v>Age (years)</c:v>
                  </c:pt>
                  <c:pt idx="2">
                    <c:v>CGPA</c:v>
                  </c:pt>
                  <c:pt idx="3">
                    <c:v>Current semester</c:v>
                  </c:pt>
                  <c:pt idx="4">
                    <c:v>Monthly cost ('000)</c:v>
                  </c:pt>
                  <c:pt idx="5">
                    <c:v>Lower-middle class</c:v>
                  </c:pt>
                  <c:pt idx="6">
                    <c:v>Rich class</c:v>
                  </c:pt>
                  <c:pt idx="7">
                    <c:v>Single</c:v>
                  </c:pt>
                  <c:pt idx="8">
                    <c:v>Ever married</c:v>
                  </c:pt>
                  <c:pt idx="9">
                    <c:v>Lives with family</c:v>
                  </c:pt>
                  <c:pt idx="10">
                    <c:v>Has friend circle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2.05</c:v>
                </c:pt>
                <c:pt idx="2">
                  <c:v>-1.46</c:v>
                </c:pt>
                <c:pt idx="3">
                  <c:v>-0.61</c:v>
                </c:pt>
                <c:pt idx="4">
                  <c:v>0</c:v>
                </c:pt>
                <c:pt idx="5">
                  <c:v>-11.18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-4.48</c:v>
                </c:pt>
                <c:pt idx="10">
                  <c:v>3.04</c:v>
                </c:pt>
              </c:numCache>
            </c:numRef>
          </c:val>
        </c:ser>
        <c:dLbls>
          <c:numFmt formatCode="+0.0;-0.0;;" sourceLinked="0"/>
          <c:txPr>
            <a:bodyPr/>
            <a:lstStyle/>
            <a:p>
              <a:pPr>
                <a:defRPr b="0" i="0" strike="noStrike" sz="1200" u="none">
                  <a:solidFill>
                    <a:srgbClr val="1B1F24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DE5E8"/>
              </a:solidFill>
              <a:prstDash val="solid"/>
              <a:round/>
            </a:ln>
          </c:spPr>
        </c:majorGridlines>
        <c:numFmt formatCode="+0;-0;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55B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2355B"/>
                </a:solidFill>
                <a:latin typeface="+mj-lt"/>
              </a:rPr>
              <a:t>ROC curve: true positive rate vs false positive 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Logit (AUC 0.781)</c:v>
                </c:pt>
              </c:strCache>
            </c:strRef>
          </c:tx>
          <c:spPr>
            <a:solidFill>
              <a:srgbClr val="E07A5F"/>
            </a:solidFill>
            <a:ln w="25400" cap="flat">
              <a:solidFill>
                <a:srgbClr val="E07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7A5F"/>
              </a:solidFill>
              <a:ln w="9525" cap="flat">
                <a:solidFill>
                  <a:srgbClr val="E07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0.00</c:v>
                  </c:pt>
                  <c:pt idx="1">
                    <c:v>0.03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0.10</c:v>
                  </c:pt>
                  <c:pt idx="5">
                    <c:v>0.13</c:v>
                  </c:pt>
                  <c:pt idx="6">
                    <c:v>0.15</c:v>
                  </c:pt>
                  <c:pt idx="7">
                    <c:v>0.17</c:v>
                  </c:pt>
                  <c:pt idx="8">
                    <c:v>0.20</c:v>
                  </c:pt>
                  <c:pt idx="9">
                    <c:v>0.23</c:v>
                  </c:pt>
                  <c:pt idx="10">
                    <c:v>0.25</c:v>
                  </c:pt>
                  <c:pt idx="11">
                    <c:v>0.28</c:v>
                  </c:pt>
                  <c:pt idx="12">
                    <c:v>0.30</c:v>
                  </c:pt>
                  <c:pt idx="13">
                    <c:v>0.33</c:v>
                  </c:pt>
                  <c:pt idx="14">
                    <c:v>0.35</c:v>
                  </c:pt>
                  <c:pt idx="15">
                    <c:v>0.38</c:v>
                  </c:pt>
                  <c:pt idx="16">
                    <c:v>0.40</c:v>
                  </c:pt>
                  <c:pt idx="17">
                    <c:v>0.42</c:v>
                  </c:pt>
                  <c:pt idx="18">
                    <c:v>0.45</c:v>
                  </c:pt>
                  <c:pt idx="19">
                    <c:v>0.47</c:v>
                  </c:pt>
                  <c:pt idx="20">
                    <c:v>0.50</c:v>
                  </c:pt>
                  <c:pt idx="21">
                    <c:v>0.53</c:v>
                  </c:pt>
                  <c:pt idx="22">
                    <c:v>0.55</c:v>
                  </c:pt>
                  <c:pt idx="23">
                    <c:v>0.57</c:v>
                  </c:pt>
                  <c:pt idx="24">
                    <c:v>0.60</c:v>
                  </c:pt>
                  <c:pt idx="25">
                    <c:v>0.63</c:v>
                  </c:pt>
                  <c:pt idx="26">
                    <c:v>0.65</c:v>
                  </c:pt>
                  <c:pt idx="27">
                    <c:v>0.68</c:v>
                  </c:pt>
                  <c:pt idx="28">
                    <c:v>0.70</c:v>
                  </c:pt>
                  <c:pt idx="29">
                    <c:v>0.72</c:v>
                  </c:pt>
                  <c:pt idx="30">
                    <c:v>0.75</c:v>
                  </c:pt>
                  <c:pt idx="31">
                    <c:v>0.78</c:v>
                  </c:pt>
                  <c:pt idx="32">
                    <c:v>0.80</c:v>
                  </c:pt>
                  <c:pt idx="33">
                    <c:v>0.82</c:v>
                  </c:pt>
                  <c:pt idx="34">
                    <c:v>0.85</c:v>
                  </c:pt>
                  <c:pt idx="35">
                    <c:v>0.88</c:v>
                  </c:pt>
                  <c:pt idx="36">
                    <c:v>0.90</c:v>
                  </c:pt>
                  <c:pt idx="37">
                    <c:v>0.93</c:v>
                  </c:pt>
                  <c:pt idx="38">
                    <c:v>0.95</c:v>
                  </c:pt>
                  <c:pt idx="39">
                    <c:v>0.97</c:v>
                  </c:pt>
                  <c:pt idx="40">
                    <c:v>1.00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0.0449</c:v>
                </c:pt>
                <c:pt idx="1">
                  <c:v>0.1011</c:v>
                </c:pt>
                <c:pt idx="2">
                  <c:v>0.1798</c:v>
                </c:pt>
                <c:pt idx="3">
                  <c:v>0.2809</c:v>
                </c:pt>
                <c:pt idx="4">
                  <c:v>0.3596</c:v>
                </c:pt>
                <c:pt idx="5">
                  <c:v>0.4382</c:v>
                </c:pt>
                <c:pt idx="6">
                  <c:v>0.4494</c:v>
                </c:pt>
                <c:pt idx="7">
                  <c:v>0.4831</c:v>
                </c:pt>
                <c:pt idx="8">
                  <c:v>0.4944</c:v>
                </c:pt>
                <c:pt idx="9">
                  <c:v>0.5169</c:v>
                </c:pt>
                <c:pt idx="10">
                  <c:v>0.5506</c:v>
                </c:pt>
                <c:pt idx="11">
                  <c:v>0.6966</c:v>
                </c:pt>
                <c:pt idx="12">
                  <c:v>0.7416</c:v>
                </c:pt>
                <c:pt idx="13">
                  <c:v>0.764</c:v>
                </c:pt>
                <c:pt idx="14">
                  <c:v>0.809</c:v>
                </c:pt>
                <c:pt idx="15">
                  <c:v>0.8539</c:v>
                </c:pt>
                <c:pt idx="16">
                  <c:v>0.8764</c:v>
                </c:pt>
                <c:pt idx="17">
                  <c:v>0.8764</c:v>
                </c:pt>
                <c:pt idx="18">
                  <c:v>0.8876</c:v>
                </c:pt>
                <c:pt idx="19">
                  <c:v>0.8989</c:v>
                </c:pt>
                <c:pt idx="20">
                  <c:v>0.9101</c:v>
                </c:pt>
                <c:pt idx="21">
                  <c:v>0.9213</c:v>
                </c:pt>
                <c:pt idx="22">
                  <c:v>0.9438</c:v>
                </c:pt>
                <c:pt idx="23">
                  <c:v>0.9663</c:v>
                </c:pt>
                <c:pt idx="24">
                  <c:v>0.9663</c:v>
                </c:pt>
                <c:pt idx="25">
                  <c:v>0.9663</c:v>
                </c:pt>
                <c:pt idx="26">
                  <c:v>0.9663</c:v>
                </c:pt>
                <c:pt idx="27">
                  <c:v>0.9663</c:v>
                </c:pt>
                <c:pt idx="28">
                  <c:v>0.9663</c:v>
                </c:pt>
                <c:pt idx="29">
                  <c:v>0.9663</c:v>
                </c:pt>
                <c:pt idx="30">
                  <c:v>0.9775</c:v>
                </c:pt>
                <c:pt idx="31">
                  <c:v>0.9888</c:v>
                </c:pt>
                <c:pt idx="32">
                  <c:v>0.9888</c:v>
                </c:pt>
                <c:pt idx="33">
                  <c:v>0.9888</c:v>
                </c:pt>
                <c:pt idx="34">
                  <c:v>0.9888</c:v>
                </c:pt>
                <c:pt idx="35">
                  <c:v>0.9888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Probit (AUC 0.781)</c:v>
                </c:pt>
              </c:strCache>
            </c:strRef>
          </c:tx>
          <c:spPr>
            <a:solidFill>
              <a:srgbClr val="1B7F8C"/>
            </a:solidFill>
            <a:ln w="25400" cap="flat">
              <a:solidFill>
                <a:srgbClr val="1B7F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7F8C"/>
              </a:solidFill>
              <a:ln w="9525" cap="flat">
                <a:solidFill>
                  <a:srgbClr val="1B7F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0.00</c:v>
                  </c:pt>
                  <c:pt idx="1">
                    <c:v>0.03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0.10</c:v>
                  </c:pt>
                  <c:pt idx="5">
                    <c:v>0.13</c:v>
                  </c:pt>
                  <c:pt idx="6">
                    <c:v>0.15</c:v>
                  </c:pt>
                  <c:pt idx="7">
                    <c:v>0.17</c:v>
                  </c:pt>
                  <c:pt idx="8">
                    <c:v>0.20</c:v>
                  </c:pt>
                  <c:pt idx="9">
                    <c:v>0.23</c:v>
                  </c:pt>
                  <c:pt idx="10">
                    <c:v>0.25</c:v>
                  </c:pt>
                  <c:pt idx="11">
                    <c:v>0.28</c:v>
                  </c:pt>
                  <c:pt idx="12">
                    <c:v>0.30</c:v>
                  </c:pt>
                  <c:pt idx="13">
                    <c:v>0.33</c:v>
                  </c:pt>
                  <c:pt idx="14">
                    <c:v>0.35</c:v>
                  </c:pt>
                  <c:pt idx="15">
                    <c:v>0.38</c:v>
                  </c:pt>
                  <c:pt idx="16">
                    <c:v>0.40</c:v>
                  </c:pt>
                  <c:pt idx="17">
                    <c:v>0.42</c:v>
                  </c:pt>
                  <c:pt idx="18">
                    <c:v>0.45</c:v>
                  </c:pt>
                  <c:pt idx="19">
                    <c:v>0.47</c:v>
                  </c:pt>
                  <c:pt idx="20">
                    <c:v>0.50</c:v>
                  </c:pt>
                  <c:pt idx="21">
                    <c:v>0.53</c:v>
                  </c:pt>
                  <c:pt idx="22">
                    <c:v>0.55</c:v>
                  </c:pt>
                  <c:pt idx="23">
                    <c:v>0.57</c:v>
                  </c:pt>
                  <c:pt idx="24">
                    <c:v>0.60</c:v>
                  </c:pt>
                  <c:pt idx="25">
                    <c:v>0.63</c:v>
                  </c:pt>
                  <c:pt idx="26">
                    <c:v>0.65</c:v>
                  </c:pt>
                  <c:pt idx="27">
                    <c:v>0.68</c:v>
                  </c:pt>
                  <c:pt idx="28">
                    <c:v>0.70</c:v>
                  </c:pt>
                  <c:pt idx="29">
                    <c:v>0.72</c:v>
                  </c:pt>
                  <c:pt idx="30">
                    <c:v>0.75</c:v>
                  </c:pt>
                  <c:pt idx="31">
                    <c:v>0.78</c:v>
                  </c:pt>
                  <c:pt idx="32">
                    <c:v>0.80</c:v>
                  </c:pt>
                  <c:pt idx="33">
                    <c:v>0.82</c:v>
                  </c:pt>
                  <c:pt idx="34">
                    <c:v>0.85</c:v>
                  </c:pt>
                  <c:pt idx="35">
                    <c:v>0.88</c:v>
                  </c:pt>
                  <c:pt idx="36">
                    <c:v>0.90</c:v>
                  </c:pt>
                  <c:pt idx="37">
                    <c:v>0.93</c:v>
                  </c:pt>
                  <c:pt idx="38">
                    <c:v>0.95</c:v>
                  </c:pt>
                  <c:pt idx="39">
                    <c:v>0.97</c:v>
                  </c:pt>
                  <c:pt idx="40">
                    <c:v>1.00</c:v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0.0449</c:v>
                </c:pt>
                <c:pt idx="1">
                  <c:v>0.1011</c:v>
                </c:pt>
                <c:pt idx="2">
                  <c:v>0.2022</c:v>
                </c:pt>
                <c:pt idx="3">
                  <c:v>0.3146</c:v>
                </c:pt>
                <c:pt idx="4">
                  <c:v>0.3708</c:v>
                </c:pt>
                <c:pt idx="5">
                  <c:v>0.4157</c:v>
                </c:pt>
                <c:pt idx="6">
                  <c:v>0.427</c:v>
                </c:pt>
                <c:pt idx="7">
                  <c:v>0.4607</c:v>
                </c:pt>
                <c:pt idx="8">
                  <c:v>0.4944</c:v>
                </c:pt>
                <c:pt idx="9">
                  <c:v>0.5169</c:v>
                </c:pt>
                <c:pt idx="10">
                  <c:v>0.5393</c:v>
                </c:pt>
                <c:pt idx="11">
                  <c:v>0.6629</c:v>
                </c:pt>
                <c:pt idx="12">
                  <c:v>0.7416</c:v>
                </c:pt>
                <c:pt idx="13">
                  <c:v>0.7753</c:v>
                </c:pt>
                <c:pt idx="14">
                  <c:v>0.8202</c:v>
                </c:pt>
                <c:pt idx="15">
                  <c:v>0.8427</c:v>
                </c:pt>
                <c:pt idx="16">
                  <c:v>0.8539</c:v>
                </c:pt>
                <c:pt idx="17">
                  <c:v>0.8876</c:v>
                </c:pt>
                <c:pt idx="18">
                  <c:v>0.8876</c:v>
                </c:pt>
                <c:pt idx="19">
                  <c:v>0.8989</c:v>
                </c:pt>
                <c:pt idx="20">
                  <c:v>0.9101</c:v>
                </c:pt>
                <c:pt idx="21">
                  <c:v>0.9213</c:v>
                </c:pt>
                <c:pt idx="22">
                  <c:v>0.9663</c:v>
                </c:pt>
                <c:pt idx="23">
                  <c:v>0.9663</c:v>
                </c:pt>
                <c:pt idx="24">
                  <c:v>0.9663</c:v>
                </c:pt>
                <c:pt idx="25">
                  <c:v>0.9663</c:v>
                </c:pt>
                <c:pt idx="26">
                  <c:v>0.9663</c:v>
                </c:pt>
                <c:pt idx="27">
                  <c:v>0.9663</c:v>
                </c:pt>
                <c:pt idx="28">
                  <c:v>0.9663</c:v>
                </c:pt>
                <c:pt idx="29">
                  <c:v>0.9775</c:v>
                </c:pt>
                <c:pt idx="30">
                  <c:v>0.9888</c:v>
                </c:pt>
                <c:pt idx="31">
                  <c:v>0.9888</c:v>
                </c:pt>
                <c:pt idx="32">
                  <c:v>0.9888</c:v>
                </c:pt>
                <c:pt idx="33">
                  <c:v>0.9888</c:v>
                </c:pt>
                <c:pt idx="34">
                  <c:v>0.9888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guess</c:v>
                </c:pt>
              </c:strCache>
            </c:strRef>
          </c:tx>
          <c:spPr>
            <a:solidFill>
              <a:srgbClr val="B8C2C7"/>
            </a:solidFill>
            <a:ln w="25400" cap="flat">
              <a:solidFill>
                <a:srgbClr val="B8C2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C7"/>
              </a:solidFill>
              <a:ln w="9525" cap="flat">
                <a:solidFill>
                  <a:srgbClr val="B8C2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0.00</c:v>
                  </c:pt>
                  <c:pt idx="1">
                    <c:v>0.03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0.10</c:v>
                  </c:pt>
                  <c:pt idx="5">
                    <c:v>0.13</c:v>
                  </c:pt>
                  <c:pt idx="6">
                    <c:v>0.15</c:v>
                  </c:pt>
                  <c:pt idx="7">
                    <c:v>0.17</c:v>
                  </c:pt>
                  <c:pt idx="8">
                    <c:v>0.20</c:v>
                  </c:pt>
                  <c:pt idx="9">
                    <c:v>0.23</c:v>
                  </c:pt>
                  <c:pt idx="10">
                    <c:v>0.25</c:v>
                  </c:pt>
                  <c:pt idx="11">
                    <c:v>0.28</c:v>
                  </c:pt>
                  <c:pt idx="12">
                    <c:v>0.30</c:v>
                  </c:pt>
                  <c:pt idx="13">
                    <c:v>0.33</c:v>
                  </c:pt>
                  <c:pt idx="14">
                    <c:v>0.35</c:v>
                  </c:pt>
                  <c:pt idx="15">
                    <c:v>0.38</c:v>
                  </c:pt>
                  <c:pt idx="16">
                    <c:v>0.40</c:v>
                  </c:pt>
                  <c:pt idx="17">
                    <c:v>0.42</c:v>
                  </c:pt>
                  <c:pt idx="18">
                    <c:v>0.45</c:v>
                  </c:pt>
                  <c:pt idx="19">
                    <c:v>0.47</c:v>
                  </c:pt>
                  <c:pt idx="20">
                    <c:v>0.50</c:v>
                  </c:pt>
                  <c:pt idx="21">
                    <c:v>0.53</c:v>
                  </c:pt>
                  <c:pt idx="22">
                    <c:v>0.55</c:v>
                  </c:pt>
                  <c:pt idx="23">
                    <c:v>0.57</c:v>
                  </c:pt>
                  <c:pt idx="24">
                    <c:v>0.60</c:v>
                  </c:pt>
                  <c:pt idx="25">
                    <c:v>0.63</c:v>
                  </c:pt>
                  <c:pt idx="26">
                    <c:v>0.65</c:v>
                  </c:pt>
                  <c:pt idx="27">
                    <c:v>0.68</c:v>
                  </c:pt>
                  <c:pt idx="28">
                    <c:v>0.70</c:v>
                  </c:pt>
                  <c:pt idx="29">
                    <c:v>0.72</c:v>
                  </c:pt>
                  <c:pt idx="30">
                    <c:v>0.75</c:v>
                  </c:pt>
                  <c:pt idx="31">
                    <c:v>0.78</c:v>
                  </c:pt>
                  <c:pt idx="32">
                    <c:v>0.80</c:v>
                  </c:pt>
                  <c:pt idx="33">
                    <c:v>0.82</c:v>
                  </c:pt>
                  <c:pt idx="34">
                    <c:v>0.85</c:v>
                  </c:pt>
                  <c:pt idx="35">
                    <c:v>0.88</c:v>
                  </c:pt>
                  <c:pt idx="36">
                    <c:v>0.90</c:v>
                  </c:pt>
                  <c:pt idx="37">
                    <c:v>0.93</c:v>
                  </c:pt>
                  <c:pt idx="38">
                    <c:v>0.95</c:v>
                  </c:pt>
                  <c:pt idx="39">
                    <c:v>0.97</c:v>
                  </c:pt>
                  <c:pt idx="40">
                    <c:v>1.00</c:v>
                  </c:pt>
                </c:lvl>
              </c:multiLvlStrCache>
            </c:multiLvl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DE5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55B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2355B"/>
                </a:solidFill>
                <a:latin typeface="+mj-lt"/>
              </a:rPr>
              <a:t>Effect on probability of depression (percentage points)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Logit AME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+0;-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Single</c:v>
                  </c:pt>
                  <c:pt idx="1">
                    <c:v>Rich family</c:v>
                  </c:pt>
                  <c:pt idx="2">
                    <c:v>Ever married</c:v>
                  </c:pt>
                  <c:pt idx="3">
                    <c:v>Male</c:v>
                  </c:pt>
                  <c:pt idx="4">
                    <c:v>Cost (per 10,000)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36.4</c:v>
                </c:pt>
                <c:pt idx="1">
                  <c:v>-17.2</c:v>
                </c:pt>
                <c:pt idx="2">
                  <c:v>-16.4</c:v>
                </c:pt>
                <c:pt idx="3">
                  <c:v>-10.7</c:v>
                </c:pt>
                <c:pt idx="4">
                  <c:v>11.5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Probit AME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+0;-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Single</c:v>
                  </c:pt>
                  <c:pt idx="1">
                    <c:v>Rich family</c:v>
                  </c:pt>
                  <c:pt idx="2">
                    <c:v>Ever married</c:v>
                  </c:pt>
                  <c:pt idx="3">
                    <c:v>Male</c:v>
                  </c:pt>
                  <c:pt idx="4">
                    <c:v>Cost (per 10,000)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36.8</c:v>
                </c:pt>
                <c:pt idx="1">
                  <c:v>-17.1</c:v>
                </c:pt>
                <c:pt idx="2">
                  <c:v>-14.9</c:v>
                </c:pt>
                <c:pt idx="3">
                  <c:v>-11.5</c:v>
                </c:pt>
                <c:pt idx="4">
                  <c:v>12.1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LPM</c:v>
                </c:pt>
              </c:strCache>
            </c:strRef>
          </c:tx>
          <c:spPr>
            <a:solidFill>
              <a:srgbClr val="8AB6BF"/>
            </a:solidFill>
            <a:effectLst/>
          </c:spPr>
          <c:invertIfNegative val="0"/>
          <c:dLbls>
            <c:numFmt formatCode="+0;-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Single</c:v>
                  </c:pt>
                  <c:pt idx="1">
                    <c:v>Rich family</c:v>
                  </c:pt>
                  <c:pt idx="2">
                    <c:v>Ever married</c:v>
                  </c:pt>
                  <c:pt idx="3">
                    <c:v>Male</c:v>
                  </c:pt>
                  <c:pt idx="4">
                    <c:v>Cost (per 10,000)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37.5</c:v>
                </c:pt>
                <c:pt idx="1">
                  <c:v>-13.9</c:v>
                </c:pt>
                <c:pt idx="2">
                  <c:v>-16.3</c:v>
                </c:pt>
                <c:pt idx="3">
                  <c:v>-9.5</c:v>
                </c:pt>
                <c:pt idx="4">
                  <c:v>8.5</c:v>
                </c:pt>
              </c:numCache>
            </c:numRef>
          </c:val>
        </c:ser>
        <c:dLbls>
          <c:numFmt formatCode="+0;-0;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DE5E8"/>
              </a:solidFill>
              <a:prstDash val="solid"/>
              <a:round/>
            </a:ln>
          </c:spPr>
        </c:majorGridlines>
        <c:numFmt formatCode="+0;-0;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question: which student characteristics are associated with depression once they are considered together? We use a 300-student survey sample and binary logit and probit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89 of 300 students (29.7%) report depression, close to the ~30% found internationally for university students. The outcome is balanced enough for a binary choice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steps. The main estimates are logit average marginal effects: the change in the probability of depression, in percentage points, when a factor changes. Stata code replicating every step is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depression rates by group. The relationship gap is the largest. These comparisons do not yet control for other factors; the regression does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student in critical health is depressed and none in good health is. Adding health to the logit raises pseudo-R² from 0.191 to 0.791, which shows it measures the outcome itself rather than a separate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Bivariate tests: relationship status, family background and health are associated with depression; gender, marital status and friend circle are not. CGPA shows no difference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marginal effects from the logit model. Coral bars are significant at 5%. CGPA, age, semester, friend circle and living with family are not significant once the other factors are held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logit model is jointly significant, calibrated (Hosmer–Lemeshow p = 0.314) and has AUC 0.781. Probit gives almost the same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estimators give nearly identical effects. H3 (single) and H4b (rich family) are supported at 5%; H5 (cost) and H7 (gender) at 10% in the logit coefficients and at 5% in marginal effects. CGPA, friend circle, lower-middle class and living with family are not supported.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stressing the main message: student mental health support should focus on social connection and financial wellbeing, not only on academic help. 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35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9494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6949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BFE3E8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Determinants of Depression among University Students  ·  IIT Kharagpur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235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E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949440" cy="2103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Determinants of Depression among University Students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E3E8"/>
                </a:solidFill>
              </a:rPr>
              <a:t>An econometric analysis using logit and probit models</a:t>
            </a:r>
            <a:endParaRPr lang="en-US" sz="1800" dirty="0"/>
          </a:p>
        </p:txBody>
      </p:sp>
      <p:sp>
        <p:nvSpPr>
          <p:cNvPr id="4" name="team and course"/>
          <p:cNvSpPr txBox="1"/>
          <p:nvPr/>
        </p:nvSpPr>
        <p:spPr>
          <a:xfrm>
            <a:off x="640080" y="4754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Atharv Lodhi  ·  Sourav Choudhary  ·  Piyush Bisht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FE3E8"/>
                </a:solidFill>
              </a:rPr>
              <a:t>Submitted to Dr. Prantik Bagchi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FE3E8"/>
                </a:solidFill>
              </a:rPr>
              <a:t>Department of Humanities and Social Sciences, IIT Kharagpur</a:t>
            </a:r>
            <a:endParaRPr lang="en-US" sz="1800" dirty="0"/>
          </a:p>
        </p:txBody>
      </p:sp>
      <p:sp>
        <p:nvSpPr>
          <p:cNvPr id="5" name="logo card"/>
          <p:cNvSpPr/>
          <p:nvPr/>
        </p:nvSpPr>
        <p:spPr>
          <a:xfrm>
            <a:off x="8366760" y="1737360"/>
            <a:ext cx="3200400" cy="3200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IT Kharagpur logo" descr="C:\Users\soura\prl\assets\iitkg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331720"/>
            <a:ext cx="2743200" cy="1927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three in ten students report depression</a:t>
            </a:r>
            <a:endParaRPr lang="en-US" sz="3000" dirty="0"/>
          </a:p>
        </p:txBody>
      </p:sp>
      <p:sp>
        <p:nvSpPr>
          <p:cNvPr id="3" name="students card"/>
          <p:cNvSpPr/>
          <p:nvPr/>
        </p:nvSpPr>
        <p:spPr>
          <a:xfrm>
            <a:off x="548640" y="137160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udents value"/>
          <p:cNvSpPr txBox="1"/>
          <p:nvPr/>
        </p:nvSpPr>
        <p:spPr>
          <a:xfrm>
            <a:off x="777240" y="1508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4000" dirty="0"/>
          </a:p>
        </p:txBody>
      </p:sp>
      <p:sp>
        <p:nvSpPr>
          <p:cNvPr id="5" name="students label"/>
          <p:cNvSpPr txBox="1"/>
          <p:nvPr/>
        </p:nvSpPr>
        <p:spPr>
          <a:xfrm>
            <a:off x="77724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university students aged 18–24</a:t>
            </a:r>
            <a:endParaRPr lang="en-US" sz="1400" dirty="0"/>
          </a:p>
        </p:txBody>
      </p:sp>
      <p:sp>
        <p:nvSpPr>
          <p:cNvPr id="6" name="prevalence card"/>
          <p:cNvSpPr/>
          <p:nvPr/>
        </p:nvSpPr>
        <p:spPr>
          <a:xfrm>
            <a:off x="3840480" y="137160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revalence value"/>
          <p:cNvSpPr txBox="1"/>
          <p:nvPr/>
        </p:nvSpPr>
        <p:spPr>
          <a:xfrm>
            <a:off x="4069080" y="1508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29.7%</a:t>
            </a:r>
            <a:endParaRPr lang="en-US" sz="4000" dirty="0"/>
          </a:p>
        </p:txBody>
      </p:sp>
      <p:sp>
        <p:nvSpPr>
          <p:cNvPr id="8" name="prevalence label"/>
          <p:cNvSpPr txBox="1"/>
          <p:nvPr/>
        </p:nvSpPr>
        <p:spPr>
          <a:xfrm>
            <a:off x="406908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 depression (89 students)</a:t>
            </a:r>
            <a:endParaRPr lang="en-US" sz="1400" dirty="0"/>
          </a:p>
        </p:txBody>
      </p:sp>
      <p:sp>
        <p:nvSpPr>
          <p:cNvPr id="9" name="gender card"/>
          <p:cNvSpPr/>
          <p:nvPr/>
        </p:nvSpPr>
        <p:spPr>
          <a:xfrm>
            <a:off x="548640" y="301752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gender value"/>
          <p:cNvSpPr txBox="1"/>
          <p:nvPr/>
        </p:nvSpPr>
        <p:spPr>
          <a:xfrm>
            <a:off x="777240" y="3154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 / 156</a:t>
            </a:r>
            <a:endParaRPr lang="en-US" sz="4000" dirty="0"/>
          </a:p>
        </p:txBody>
      </p:sp>
      <p:sp>
        <p:nvSpPr>
          <p:cNvPr id="11" name="gender label"/>
          <p:cNvSpPr txBox="1"/>
          <p:nvPr/>
        </p:nvSpPr>
        <p:spPr>
          <a:xfrm>
            <a:off x="77724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male / female students</a:t>
            </a:r>
            <a:endParaRPr lang="en-US" sz="1400" dirty="0"/>
          </a:p>
        </p:txBody>
      </p:sp>
      <p:sp>
        <p:nvSpPr>
          <p:cNvPr id="12" name="variables card"/>
          <p:cNvSpPr/>
          <p:nvPr/>
        </p:nvSpPr>
        <p:spPr>
          <a:xfrm>
            <a:off x="3840480" y="301752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variables value"/>
          <p:cNvSpPr txBox="1"/>
          <p:nvPr/>
        </p:nvSpPr>
        <p:spPr>
          <a:xfrm>
            <a:off x="4069080" y="3154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4" name="variables label"/>
          <p:cNvSpPr txBox="1"/>
          <p:nvPr/>
        </p:nvSpPr>
        <p:spPr>
          <a:xfrm>
            <a:off x="406908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explanatory variables in the model</a:t>
            </a:r>
            <a:endParaRPr lang="en-US" sz="1400" dirty="0"/>
          </a:p>
        </p:txBody>
      </p:sp>
      <p:sp>
        <p:nvSpPr>
          <p:cNvPr id="15" name="questions card"/>
          <p:cNvSpPr/>
          <p:nvPr/>
        </p:nvSpPr>
        <p:spPr>
          <a:xfrm>
            <a:off x="7315200" y="1371600"/>
            <a:ext cx="4297680" cy="466344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questions heading"/>
          <p:cNvSpPr txBox="1"/>
          <p:nvPr/>
        </p:nvSpPr>
        <p:spPr>
          <a:xfrm>
            <a:off x="758952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2000" dirty="0"/>
          </a:p>
        </p:txBody>
      </p:sp>
      <p:sp>
        <p:nvSpPr>
          <p:cNvPr id="17" name="questions list"/>
          <p:cNvSpPr txBox="1"/>
          <p:nvPr/>
        </p:nvSpPr>
        <p:spPr>
          <a:xfrm>
            <a:off x="7589520" y="210312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 relationships and marital status matter?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 family background and living costs matter?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low CGPA a driver of depression?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 gender, friends and living with family make a difference?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Which factors remain once all are considered together?</a:t>
            </a:r>
            <a:endParaRPr lang="en-US" sz="1600" dirty="0"/>
          </a:p>
        </p:txBody>
      </p:sp>
      <p:sp>
        <p:nvSpPr>
          <p:cNvPr id="18" name="sample note"/>
          <p:cNvSpPr txBox="1"/>
          <p:nvPr/>
        </p:nvSpPr>
        <p:spPr>
          <a:xfrm>
            <a:off x="548640" y="4709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</a:rPr>
              <a:t>Sample: 300 students drawn at random from one region of a larger student survey; no personal identifiers.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Method: from survey answers to probability effects</a:t>
            </a:r>
            <a:endParaRPr lang="en-US" sz="3000" dirty="0"/>
          </a:p>
        </p:txBody>
      </p:sp>
      <p:sp>
        <p:nvSpPr>
          <p:cNvPr id="3" name="step 1 circle"/>
          <p:cNvSpPr/>
          <p:nvPr/>
        </p:nvSpPr>
        <p:spPr>
          <a:xfrm>
            <a:off x="1051560" y="1417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105156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step 1 arrow"/>
          <p:cNvSpPr/>
          <p:nvPr/>
        </p:nvSpPr>
        <p:spPr>
          <a:xfrm>
            <a:off x="1874520" y="1783080"/>
            <a:ext cx="1051560" cy="0"/>
          </a:xfrm>
          <a:prstGeom prst="line">
            <a:avLst/>
          </a:prstGeom>
          <a:noFill/>
          <a:ln w="25400">
            <a:solidFill>
              <a:srgbClr val="8AB6BF"/>
            </a:solidFill>
            <a:prstDash val="solid"/>
            <a:tailEnd type="triangle"/>
          </a:ln>
        </p:spPr>
      </p:sp>
      <p:sp>
        <p:nvSpPr>
          <p:cNvPr id="6" name="step 1 title"/>
          <p:cNvSpPr txBox="1"/>
          <p:nvPr/>
        </p:nvSpPr>
        <p:spPr>
          <a:xfrm>
            <a:off x="54864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Clean &amp; code</a:t>
            </a:r>
            <a:endParaRPr lang="en-US" sz="1800" dirty="0"/>
          </a:p>
        </p:txBody>
      </p:sp>
      <p:sp>
        <p:nvSpPr>
          <p:cNvPr id="7" name="step 1 text"/>
          <p:cNvSpPr txBox="1"/>
          <p:nvPr/>
        </p:nvSpPr>
        <p:spPr>
          <a:xfrm>
            <a:off x="54864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Dummies; tiny groups merged to avoid perfect prediction</a:t>
            </a:r>
            <a:endParaRPr lang="en-US" sz="1400" dirty="0"/>
          </a:p>
        </p:txBody>
      </p:sp>
      <p:sp>
        <p:nvSpPr>
          <p:cNvPr id="8" name="step 2 circle"/>
          <p:cNvSpPr/>
          <p:nvPr/>
        </p:nvSpPr>
        <p:spPr>
          <a:xfrm>
            <a:off x="2926080" y="1417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tep 2 number"/>
          <p:cNvSpPr txBox="1"/>
          <p:nvPr/>
        </p:nvSpPr>
        <p:spPr>
          <a:xfrm>
            <a:off x="292608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step 2 arrow"/>
          <p:cNvSpPr/>
          <p:nvPr/>
        </p:nvSpPr>
        <p:spPr>
          <a:xfrm>
            <a:off x="3749040" y="1783080"/>
            <a:ext cx="1051560" cy="0"/>
          </a:xfrm>
          <a:prstGeom prst="line">
            <a:avLst/>
          </a:prstGeom>
          <a:noFill/>
          <a:ln w="25400">
            <a:solidFill>
              <a:srgbClr val="8AB6BF"/>
            </a:solidFill>
            <a:prstDash val="solid"/>
            <a:tailEnd type="triangle"/>
          </a:ln>
        </p:spPr>
      </p:sp>
      <p:sp>
        <p:nvSpPr>
          <p:cNvPr id="11" name="step 2 title"/>
          <p:cNvSpPr txBox="1"/>
          <p:nvPr/>
        </p:nvSpPr>
        <p:spPr>
          <a:xfrm>
            <a:off x="242316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Describe</a:t>
            </a:r>
            <a:endParaRPr lang="en-US" sz="1800" dirty="0"/>
          </a:p>
        </p:txBody>
      </p:sp>
      <p:sp>
        <p:nvSpPr>
          <p:cNvPr id="12" name="step 2 text"/>
          <p:cNvSpPr txBox="1"/>
          <p:nvPr/>
        </p:nvSpPr>
        <p:spPr>
          <a:xfrm>
            <a:off x="242316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Depression rates and distributions by group</a:t>
            </a:r>
            <a:endParaRPr lang="en-US" sz="1400" dirty="0"/>
          </a:p>
        </p:txBody>
      </p:sp>
      <p:sp>
        <p:nvSpPr>
          <p:cNvPr id="13" name="step 3 circle"/>
          <p:cNvSpPr/>
          <p:nvPr/>
        </p:nvSpPr>
        <p:spPr>
          <a:xfrm>
            <a:off x="4800600" y="1417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480060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step 3 arrow"/>
          <p:cNvSpPr/>
          <p:nvPr/>
        </p:nvSpPr>
        <p:spPr>
          <a:xfrm>
            <a:off x="5623560" y="1783080"/>
            <a:ext cx="1051560" cy="0"/>
          </a:xfrm>
          <a:prstGeom prst="line">
            <a:avLst/>
          </a:prstGeom>
          <a:noFill/>
          <a:ln w="25400">
            <a:solidFill>
              <a:srgbClr val="8AB6BF"/>
            </a:solidFill>
            <a:prstDash val="solid"/>
            <a:tailEnd type="triangle"/>
          </a:ln>
        </p:spPr>
      </p:sp>
      <p:sp>
        <p:nvSpPr>
          <p:cNvPr id="16" name="step 3 title"/>
          <p:cNvSpPr txBox="1"/>
          <p:nvPr/>
        </p:nvSpPr>
        <p:spPr>
          <a:xfrm>
            <a:off x="429768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Test</a:t>
            </a:r>
            <a:endParaRPr lang="en-US" sz="1800" dirty="0"/>
          </a:p>
        </p:txBody>
      </p:sp>
      <p:sp>
        <p:nvSpPr>
          <p:cNvPr id="17" name="step 3 text"/>
          <p:cNvSpPr txBox="1"/>
          <p:nvPr/>
        </p:nvSpPr>
        <p:spPr>
          <a:xfrm>
            <a:off x="429768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Chi-square, Cramér's V, t-test, Mann–Whitney</a:t>
            </a:r>
            <a:endParaRPr lang="en-US" sz="1400" dirty="0"/>
          </a:p>
        </p:txBody>
      </p:sp>
      <p:sp>
        <p:nvSpPr>
          <p:cNvPr id="18" name="step 4 circle"/>
          <p:cNvSpPr/>
          <p:nvPr/>
        </p:nvSpPr>
        <p:spPr>
          <a:xfrm>
            <a:off x="6675120" y="14173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ep 4 number"/>
          <p:cNvSpPr txBox="1"/>
          <p:nvPr/>
        </p:nvSpPr>
        <p:spPr>
          <a:xfrm>
            <a:off x="667512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step 4 arrow"/>
          <p:cNvSpPr/>
          <p:nvPr/>
        </p:nvSpPr>
        <p:spPr>
          <a:xfrm>
            <a:off x="7498080" y="1783080"/>
            <a:ext cx="1051560" cy="0"/>
          </a:xfrm>
          <a:prstGeom prst="line">
            <a:avLst/>
          </a:prstGeom>
          <a:noFill/>
          <a:ln w="25400">
            <a:solidFill>
              <a:srgbClr val="8AB6BF"/>
            </a:solidFill>
            <a:prstDash val="solid"/>
            <a:tailEnd type="triangle"/>
          </a:ln>
        </p:spPr>
      </p:sp>
      <p:sp>
        <p:nvSpPr>
          <p:cNvPr id="21" name="step 4 title"/>
          <p:cNvSpPr txBox="1"/>
          <p:nvPr/>
        </p:nvSpPr>
        <p:spPr>
          <a:xfrm>
            <a:off x="617220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</a:t>
            </a:r>
            <a:endParaRPr lang="en-US" sz="1800" dirty="0"/>
          </a:p>
        </p:txBody>
      </p:sp>
      <p:sp>
        <p:nvSpPr>
          <p:cNvPr id="22" name="step 4 text"/>
          <p:cNvSpPr txBox="1"/>
          <p:nvPr/>
        </p:nvSpPr>
        <p:spPr>
          <a:xfrm>
            <a:off x="617220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Binary logit (main) and probit, 11 regressors</a:t>
            </a:r>
            <a:endParaRPr lang="en-US" sz="1400" dirty="0"/>
          </a:p>
        </p:txBody>
      </p:sp>
      <p:sp>
        <p:nvSpPr>
          <p:cNvPr id="23" name="step 5 circle"/>
          <p:cNvSpPr/>
          <p:nvPr/>
        </p:nvSpPr>
        <p:spPr>
          <a:xfrm>
            <a:off x="8549640" y="14173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tep 5 number"/>
          <p:cNvSpPr txBox="1"/>
          <p:nvPr/>
        </p:nvSpPr>
        <p:spPr>
          <a:xfrm>
            <a:off x="854964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step 5 arrow"/>
          <p:cNvSpPr/>
          <p:nvPr/>
        </p:nvSpPr>
        <p:spPr>
          <a:xfrm>
            <a:off x="9372600" y="1783080"/>
            <a:ext cx="1051560" cy="0"/>
          </a:xfrm>
          <a:prstGeom prst="line">
            <a:avLst/>
          </a:prstGeom>
          <a:noFill/>
          <a:ln w="25400">
            <a:solidFill>
              <a:srgbClr val="8AB6BF"/>
            </a:solidFill>
            <a:prstDash val="solid"/>
            <a:tailEnd type="triangle"/>
          </a:ln>
        </p:spPr>
      </p:sp>
      <p:sp>
        <p:nvSpPr>
          <p:cNvPr id="26" name="step 5 title"/>
          <p:cNvSpPr txBox="1"/>
          <p:nvPr/>
        </p:nvSpPr>
        <p:spPr>
          <a:xfrm>
            <a:off x="804672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Interpret</a:t>
            </a:r>
            <a:endParaRPr lang="en-US" sz="1800" dirty="0"/>
          </a:p>
        </p:txBody>
      </p:sp>
      <p:sp>
        <p:nvSpPr>
          <p:cNvPr id="27" name="step 5 text"/>
          <p:cNvSpPr txBox="1"/>
          <p:nvPr/>
        </p:nvSpPr>
        <p:spPr>
          <a:xfrm>
            <a:off x="804672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marginal effects in percentage points</a:t>
            </a:r>
            <a:endParaRPr lang="en-US" sz="1400" dirty="0"/>
          </a:p>
        </p:txBody>
      </p:sp>
      <p:sp>
        <p:nvSpPr>
          <p:cNvPr id="28" name="step 6 circle"/>
          <p:cNvSpPr/>
          <p:nvPr/>
        </p:nvSpPr>
        <p:spPr>
          <a:xfrm>
            <a:off x="10424160" y="1417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tep 6 number"/>
          <p:cNvSpPr txBox="1"/>
          <p:nvPr/>
        </p:nvSpPr>
        <p:spPr>
          <a:xfrm>
            <a:off x="1042416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30" name="step 6 title"/>
          <p:cNvSpPr txBox="1"/>
          <p:nvPr/>
        </p:nvSpPr>
        <p:spPr>
          <a:xfrm>
            <a:off x="992124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</a:t>
            </a:r>
            <a:endParaRPr lang="en-US" sz="1800" dirty="0"/>
          </a:p>
        </p:txBody>
      </p:sp>
      <p:sp>
        <p:nvSpPr>
          <p:cNvPr id="31" name="step 6 text"/>
          <p:cNvSpPr txBox="1"/>
          <p:nvPr/>
        </p:nvSpPr>
        <p:spPr>
          <a:xfrm>
            <a:off x="992124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Fit, ROC, Hosmer–Lemeshow, VIF, robustness</a:t>
            </a:r>
            <a:endParaRPr lang="en-US" sz="1400" dirty="0"/>
          </a:p>
        </p:txBody>
      </p:sp>
      <p:sp>
        <p:nvSpPr>
          <p:cNvPr id="32" name="model card"/>
          <p:cNvSpPr/>
          <p:nvPr/>
        </p:nvSpPr>
        <p:spPr>
          <a:xfrm>
            <a:off x="548640" y="4069080"/>
            <a:ext cx="110642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model heading"/>
          <p:cNvSpPr txBox="1"/>
          <p:nvPr/>
        </p:nvSpPr>
        <p:spPr>
          <a:xfrm>
            <a:off x="82296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Main model (binary logit)</a:t>
            </a:r>
            <a:endParaRPr lang="en-US" sz="1800" dirty="0"/>
          </a:p>
        </p:txBody>
      </p:sp>
      <p:sp>
        <p:nvSpPr>
          <p:cNvPr id="34" name="model equation"/>
          <p:cNvSpPr txBox="1"/>
          <p:nvPr/>
        </p:nvSpPr>
        <p:spPr>
          <a:xfrm>
            <a:off x="822960" y="4663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Pr(Depression = 1) = Λ(β₀ + β₁Male + β₂Age + β₃CGPA + β₄Semester + β₅Cost + β₆LowerMid + β₇Rich + β₈Single + β₉EverMarried + β₁₀LiveFamily + β₁₁FriendCircle)</a:t>
            </a:r>
            <a:endParaRPr lang="en-US" sz="1500" dirty="0"/>
          </a:p>
        </p:txBody>
      </p:sp>
      <p:sp>
        <p:nvSpPr>
          <p:cNvPr id="35" name="model note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Health condition is shown descriptively only — it almost restates the outcome (next slides). Probit and a linear probability model are used as checks.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students are 5.1× as likely to be depressed</a:t>
            </a:r>
            <a:endParaRPr lang="en-US" sz="3000" dirty="0"/>
          </a:p>
        </p:txBody>
      </p:sp>
      <p:graphicFrame>
        <p:nvGraphicFramePr>
          <p:cNvPr id="3" name="relationship chart" descr=""/>
          <p:cNvGraphicFramePr/>
          <p:nvPr/>
        </p:nvGraphicFramePr>
        <p:xfrm>
          <a:off x="457200" y="1280160"/>
          <a:ext cx="40233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family chart" descr=""/>
          <p:cNvGraphicFramePr/>
          <p:nvPr/>
        </p:nvGraphicFramePr>
        <p:xfrm>
          <a:off x="4526280" y="1280160"/>
          <a:ext cx="40233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living chart" descr=""/>
          <p:cNvGraphicFramePr/>
          <p:nvPr/>
        </p:nvGraphicFramePr>
        <p:xfrm>
          <a:off x="457200" y="3840480"/>
          <a:ext cx="4023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gender chart" descr=""/>
          <p:cNvGraphicFramePr/>
          <p:nvPr/>
        </p:nvGraphicFramePr>
        <p:xfrm>
          <a:off x="4526280" y="3840480"/>
          <a:ext cx="4023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akeaway card"/>
          <p:cNvSpPr/>
          <p:nvPr/>
        </p:nvSpPr>
        <p:spPr>
          <a:xfrm>
            <a:off x="8823960" y="1371600"/>
            <a:ext cx="2788920" cy="475488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akeaway heading"/>
          <p:cNvSpPr txBox="1"/>
          <p:nvPr/>
        </p:nvSpPr>
        <p:spPr>
          <a:xfrm>
            <a:off x="905256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 raw data show</a:t>
            </a:r>
            <a:endParaRPr lang="en-US" sz="1800" dirty="0"/>
          </a:p>
        </p:txBody>
      </p:sp>
      <p:sp>
        <p:nvSpPr>
          <p:cNvPr id="9" name="takeaway list"/>
          <p:cNvSpPr txBox="1"/>
          <p:nvPr/>
        </p:nvSpPr>
        <p:spPr>
          <a:xfrm>
            <a:off x="9052560" y="2331720"/>
            <a:ext cx="2423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42.2% of single students vs 8.2% in a relationship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Middle class highest at 35.8%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Bachelors 33.7% vs 23.3% living with family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Gender gap small before controls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Self-reported health almost determines depression</a:t>
            </a:r>
            <a:endParaRPr lang="en-US" sz="3000" dirty="0"/>
          </a:p>
        </p:txBody>
      </p:sp>
      <p:graphicFrame>
        <p:nvGraphicFramePr>
          <p:cNvPr id="3" name="health chart" descr=""/>
          <p:cNvGraphicFramePr/>
          <p:nvPr/>
        </p:nvGraphicFramePr>
        <p:xfrm>
          <a:off x="457200" y="132588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ritical card"/>
          <p:cNvSpPr/>
          <p:nvPr/>
        </p:nvSpPr>
        <p:spPr>
          <a:xfrm>
            <a:off x="7772400" y="141732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ritical value"/>
          <p:cNvSpPr txBox="1"/>
          <p:nvPr/>
        </p:nvSpPr>
        <p:spPr>
          <a:xfrm>
            <a:off x="8001000" y="1554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critical label"/>
          <p:cNvSpPr txBox="1"/>
          <p:nvPr/>
        </p:nvSpPr>
        <p:spPr>
          <a:xfrm>
            <a:off x="800100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students in critical health are depressed</a:t>
            </a:r>
            <a:endParaRPr lang="en-US" sz="1400" dirty="0"/>
          </a:p>
        </p:txBody>
      </p:sp>
      <p:sp>
        <p:nvSpPr>
          <p:cNvPr id="7" name="good card"/>
          <p:cNvSpPr/>
          <p:nvPr/>
        </p:nvSpPr>
        <p:spPr>
          <a:xfrm>
            <a:off x="7772400" y="301752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good value"/>
          <p:cNvSpPr txBox="1"/>
          <p:nvPr/>
        </p:nvSpPr>
        <p:spPr>
          <a:xfrm>
            <a:off x="8001000" y="3154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9" name="good label"/>
          <p:cNvSpPr txBox="1"/>
          <p:nvPr/>
        </p:nvSpPr>
        <p:spPr>
          <a:xfrm>
            <a:off x="800100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students in good health are depressed</a:t>
            </a:r>
            <a:endParaRPr lang="en-US" sz="1400" dirty="0"/>
          </a:p>
        </p:txBody>
      </p:sp>
      <p:sp>
        <p:nvSpPr>
          <p:cNvPr id="10" name="health note"/>
          <p:cNvSpPr txBox="1"/>
          <p:nvPr/>
        </p:nvSpPr>
        <p:spPr>
          <a:xfrm>
            <a:off x="7772400" y="46634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Health nearly restates the outcome (perfect prediction), so it is left out of the main model and tested only in a robustness check.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controls, relationships and family stand out</a:t>
            </a:r>
            <a:endParaRPr lang="en-US" sz="3000" dirty="0"/>
          </a:p>
        </p:txBody>
      </p:sp>
      <p:graphicFrame>
        <p:nvGraphicFramePr>
          <p:cNvPr id="7" name="chi-squa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Cramér's 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background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Marital 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style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 circle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condition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</a:tr>
            </a:tbl>
          </a:graphicData>
        </a:graphic>
      </p:graphicFrame>
      <p:sp>
        <p:nvSpPr>
          <p:cNvPr id="4" name="table caption"/>
          <p:cNvSpPr txBox="1"/>
          <p:nvPr/>
        </p:nvSpPr>
        <p:spPr>
          <a:xfrm>
            <a:off x="548640" y="5349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3"/>
                </a:solidFill>
              </a:rPr>
              <a:t>Chi-square tests of independence with depression (shaded: significant at 5%)</a:t>
            </a:r>
            <a:endParaRPr lang="en-US" sz="1200" dirty="0"/>
          </a:p>
        </p:txBody>
      </p:sp>
      <p:sp>
        <p:nvSpPr>
          <p:cNvPr id="5" name="cgpa card"/>
          <p:cNvSpPr/>
          <p:nvPr/>
        </p:nvSpPr>
        <p:spPr>
          <a:xfrm>
            <a:off x="768096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cgpa value"/>
          <p:cNvSpPr txBox="1"/>
          <p:nvPr/>
        </p:nvSpPr>
        <p:spPr>
          <a:xfrm>
            <a:off x="7909560" y="1508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3.48 vs 3.51</a:t>
            </a:r>
            <a:endParaRPr lang="en-US" sz="4000" dirty="0"/>
          </a:p>
        </p:txBody>
      </p:sp>
      <p:sp>
        <p:nvSpPr>
          <p:cNvPr id="7" name="cgpa label"/>
          <p:cNvSpPr txBox="1"/>
          <p:nvPr/>
        </p:nvSpPr>
        <p:spPr>
          <a:xfrm>
            <a:off x="790956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 CGPA, not depressed vs depressed (p = 0.388)</a:t>
            </a:r>
            <a:endParaRPr lang="en-US" sz="1400" dirty="0"/>
          </a:p>
        </p:txBody>
      </p:sp>
      <p:sp>
        <p:nvSpPr>
          <p:cNvPr id="8" name="cost card"/>
          <p:cNvSpPr/>
          <p:nvPr/>
        </p:nvSpPr>
        <p:spPr>
          <a:xfrm>
            <a:off x="7680960" y="301752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cost value"/>
          <p:cNvSpPr txBox="1"/>
          <p:nvPr/>
        </p:nvSpPr>
        <p:spPr>
          <a:xfrm>
            <a:off x="7909560" y="3154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12.96 vs 14.43</a:t>
            </a:r>
            <a:endParaRPr lang="en-US" sz="4000" dirty="0"/>
          </a:p>
        </p:txBody>
      </p:sp>
      <p:sp>
        <p:nvSpPr>
          <p:cNvPr id="10" name="cost label"/>
          <p:cNvSpPr txBox="1"/>
          <p:nvPr/>
        </p:nvSpPr>
        <p:spPr>
          <a:xfrm>
            <a:off x="790956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cost ('000), not depressed vs depressed (p = 0.067)</a:t>
            </a:r>
            <a:endParaRPr lang="en-US" sz="1400" dirty="0"/>
          </a:p>
        </p:txBody>
      </p:sp>
      <p:sp>
        <p:nvSpPr>
          <p:cNvPr id="11" name="tests note"/>
          <p:cNvSpPr txBox="1"/>
          <p:nvPr/>
        </p:nvSpPr>
        <p:spPr>
          <a:xfrm>
            <a:off x="7680960" y="46634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Grades are almost identical between the groups; living costs are somewhat higher among depressed students.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single raises the probability of depression by 36 points</a:t>
            </a:r>
            <a:endParaRPr lang="en-US" sz="3000" dirty="0"/>
          </a:p>
        </p:txBody>
      </p:sp>
      <p:graphicFrame>
        <p:nvGraphicFramePr>
          <p:cNvPr id="3" name="marginal effects chart" descr=""/>
          <p:cNvGraphicFramePr/>
          <p:nvPr/>
        </p:nvGraphicFramePr>
        <p:xfrm>
          <a:off x="457200" y="1280160"/>
          <a:ext cx="722376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ingle card"/>
          <p:cNvSpPr/>
          <p:nvPr/>
        </p:nvSpPr>
        <p:spPr>
          <a:xfrm>
            <a:off x="8001000" y="1325880"/>
            <a:ext cx="3611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ingle value"/>
          <p:cNvSpPr txBox="1"/>
          <p:nvPr/>
        </p:nvSpPr>
        <p:spPr>
          <a:xfrm>
            <a:off x="8183880" y="1417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+36.4 pp</a:t>
            </a:r>
            <a:endParaRPr lang="en-US" sz="2600" dirty="0"/>
          </a:p>
        </p:txBody>
      </p:sp>
      <p:sp>
        <p:nvSpPr>
          <p:cNvPr id="6" name="Single label"/>
          <p:cNvSpPr txBox="1"/>
          <p:nvPr/>
        </p:nvSpPr>
        <p:spPr>
          <a:xfrm>
            <a:off x="9829800" y="14173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Single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p &lt; 0.001</a:t>
            </a:r>
            <a:endParaRPr lang="en-US" sz="1400" dirty="0"/>
          </a:p>
        </p:txBody>
      </p:sp>
      <p:sp>
        <p:nvSpPr>
          <p:cNvPr id="7" name="Rich family card"/>
          <p:cNvSpPr/>
          <p:nvPr/>
        </p:nvSpPr>
        <p:spPr>
          <a:xfrm>
            <a:off x="8001000" y="2313432"/>
            <a:ext cx="3611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Rich family value"/>
          <p:cNvSpPr txBox="1"/>
          <p:nvPr/>
        </p:nvSpPr>
        <p:spPr>
          <a:xfrm>
            <a:off x="8183880" y="240487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−17.2 pp</a:t>
            </a:r>
            <a:endParaRPr lang="en-US" sz="2600" dirty="0"/>
          </a:p>
        </p:txBody>
      </p:sp>
      <p:sp>
        <p:nvSpPr>
          <p:cNvPr id="9" name="Rich family label"/>
          <p:cNvSpPr txBox="1"/>
          <p:nvPr/>
        </p:nvSpPr>
        <p:spPr>
          <a:xfrm>
            <a:off x="9829800" y="240487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Rich family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p = 0.011</a:t>
            </a:r>
            <a:endParaRPr lang="en-US" sz="1400" dirty="0"/>
          </a:p>
        </p:txBody>
      </p:sp>
      <p:sp>
        <p:nvSpPr>
          <p:cNvPr id="10" name="Ever married card"/>
          <p:cNvSpPr/>
          <p:nvPr/>
        </p:nvSpPr>
        <p:spPr>
          <a:xfrm>
            <a:off x="8001000" y="3300984"/>
            <a:ext cx="3611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Ever married value"/>
          <p:cNvSpPr txBox="1"/>
          <p:nvPr/>
        </p:nvSpPr>
        <p:spPr>
          <a:xfrm>
            <a:off x="8183880" y="3392424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−16.4 pp</a:t>
            </a:r>
            <a:endParaRPr lang="en-US" sz="2600" dirty="0"/>
          </a:p>
        </p:txBody>
      </p:sp>
      <p:sp>
        <p:nvSpPr>
          <p:cNvPr id="12" name="Ever married label"/>
          <p:cNvSpPr txBox="1"/>
          <p:nvPr/>
        </p:nvSpPr>
        <p:spPr>
          <a:xfrm>
            <a:off x="9829800" y="3392424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Ever married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p = 0.003</a:t>
            </a:r>
            <a:endParaRPr lang="en-US" sz="1400" dirty="0"/>
          </a:p>
        </p:txBody>
      </p:sp>
      <p:sp>
        <p:nvSpPr>
          <p:cNvPr id="13" name="Male card"/>
          <p:cNvSpPr/>
          <p:nvPr/>
        </p:nvSpPr>
        <p:spPr>
          <a:xfrm>
            <a:off x="8001000" y="4288536"/>
            <a:ext cx="3611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Male value"/>
          <p:cNvSpPr txBox="1"/>
          <p:nvPr/>
        </p:nvSpPr>
        <p:spPr>
          <a:xfrm>
            <a:off x="8183880" y="4379976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−10.7 pp</a:t>
            </a:r>
            <a:endParaRPr lang="en-US" sz="2600" dirty="0"/>
          </a:p>
        </p:txBody>
      </p:sp>
      <p:sp>
        <p:nvSpPr>
          <p:cNvPr id="15" name="Male label"/>
          <p:cNvSpPr txBox="1"/>
          <p:nvPr/>
        </p:nvSpPr>
        <p:spPr>
          <a:xfrm>
            <a:off x="9829800" y="4379976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p = 0.050</a:t>
            </a:r>
            <a:endParaRPr lang="en-US" sz="1400" dirty="0"/>
          </a:p>
        </p:txBody>
      </p:sp>
      <p:sp>
        <p:nvSpPr>
          <p:cNvPr id="16" name="Cost per 1,000 card"/>
          <p:cNvSpPr/>
          <p:nvPr/>
        </p:nvSpPr>
        <p:spPr>
          <a:xfrm>
            <a:off x="8001000" y="5276088"/>
            <a:ext cx="3611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Cost per 1,000 value"/>
          <p:cNvSpPr txBox="1"/>
          <p:nvPr/>
        </p:nvSpPr>
        <p:spPr>
          <a:xfrm>
            <a:off x="8183880" y="53675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+1.15 pp</a:t>
            </a:r>
            <a:endParaRPr lang="en-US" sz="2600" dirty="0"/>
          </a:p>
        </p:txBody>
      </p:sp>
      <p:sp>
        <p:nvSpPr>
          <p:cNvPr id="18" name="Cost per 1,000 label"/>
          <p:cNvSpPr txBox="1"/>
          <p:nvPr/>
        </p:nvSpPr>
        <p:spPr>
          <a:xfrm>
            <a:off x="9829800" y="53675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Cost per 1,000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p = 0.045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fits well and separates students reasonably</a:t>
            </a:r>
            <a:endParaRPr lang="en-US" sz="3000" dirty="0"/>
          </a:p>
        </p:txBody>
      </p:sp>
      <p:sp>
        <p:nvSpPr>
          <p:cNvPr id="3" name="lr card"/>
          <p:cNvSpPr/>
          <p:nvPr/>
        </p:nvSpPr>
        <p:spPr>
          <a:xfrm>
            <a:off x="548640" y="132588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lr value"/>
          <p:cNvSpPr txBox="1"/>
          <p:nvPr/>
        </p:nvSpPr>
        <p:spPr>
          <a:xfrm>
            <a:off x="777240" y="1463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69.6</a:t>
            </a:r>
            <a:endParaRPr lang="en-US" sz="4000" dirty="0"/>
          </a:p>
        </p:txBody>
      </p:sp>
      <p:sp>
        <p:nvSpPr>
          <p:cNvPr id="5" name="lr label"/>
          <p:cNvSpPr txBox="1"/>
          <p:nvPr/>
        </p:nvSpPr>
        <p:spPr>
          <a:xfrm>
            <a:off x="77724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LR χ²(11), p &lt; 0.001</a:t>
            </a:r>
            <a:endParaRPr lang="en-US" sz="1400" dirty="0"/>
          </a:p>
        </p:txBody>
      </p:sp>
      <p:sp>
        <p:nvSpPr>
          <p:cNvPr id="6" name="pseudo card"/>
          <p:cNvSpPr/>
          <p:nvPr/>
        </p:nvSpPr>
        <p:spPr>
          <a:xfrm>
            <a:off x="3337560" y="132588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seudo value"/>
          <p:cNvSpPr txBox="1"/>
          <p:nvPr/>
        </p:nvSpPr>
        <p:spPr>
          <a:xfrm>
            <a:off x="3566160" y="1463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0.191</a:t>
            </a:r>
            <a:endParaRPr lang="en-US" sz="4000" dirty="0"/>
          </a:p>
        </p:txBody>
      </p:sp>
      <p:sp>
        <p:nvSpPr>
          <p:cNvPr id="8" name="pseudo label"/>
          <p:cNvSpPr txBox="1"/>
          <p:nvPr/>
        </p:nvSpPr>
        <p:spPr>
          <a:xfrm>
            <a:off x="356616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McFadden pseudo-R²</a:t>
            </a:r>
            <a:endParaRPr lang="en-US" sz="1400" dirty="0"/>
          </a:p>
        </p:txBody>
      </p:sp>
      <p:sp>
        <p:nvSpPr>
          <p:cNvPr id="9" name="auc card"/>
          <p:cNvSpPr/>
          <p:nvPr/>
        </p:nvSpPr>
        <p:spPr>
          <a:xfrm>
            <a:off x="6126480" y="132588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uc value"/>
          <p:cNvSpPr txBox="1"/>
          <p:nvPr/>
        </p:nvSpPr>
        <p:spPr>
          <a:xfrm>
            <a:off x="6355080" y="1463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0.781</a:t>
            </a:r>
            <a:endParaRPr lang="en-US" sz="4000" dirty="0"/>
          </a:p>
        </p:txBody>
      </p:sp>
      <p:sp>
        <p:nvSpPr>
          <p:cNvPr id="11" name="auc label"/>
          <p:cNvSpPr txBox="1"/>
          <p:nvPr/>
        </p:nvSpPr>
        <p:spPr>
          <a:xfrm>
            <a:off x="635508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area under ROC curve</a:t>
            </a:r>
            <a:endParaRPr lang="en-US" sz="1400" dirty="0"/>
          </a:p>
        </p:txBody>
      </p:sp>
      <p:sp>
        <p:nvSpPr>
          <p:cNvPr id="12" name="hl card"/>
          <p:cNvSpPr/>
          <p:nvPr/>
        </p:nvSpPr>
        <p:spPr>
          <a:xfrm>
            <a:off x="9006840" y="132588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hl value"/>
          <p:cNvSpPr txBox="1"/>
          <p:nvPr/>
        </p:nvSpPr>
        <p:spPr>
          <a:xfrm>
            <a:off x="9235440" y="1463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0.314</a:t>
            </a:r>
            <a:endParaRPr lang="en-US" sz="4000" dirty="0"/>
          </a:p>
        </p:txBody>
      </p:sp>
      <p:sp>
        <p:nvSpPr>
          <p:cNvPr id="14" name="hl label"/>
          <p:cNvSpPr txBox="1"/>
          <p:nvPr/>
        </p:nvSpPr>
        <p:spPr>
          <a:xfrm>
            <a:off x="923544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Hosmer–Lemeshow p (good fit)</a:t>
            </a:r>
            <a:endParaRPr lang="en-US" sz="1400" dirty="0"/>
          </a:p>
        </p:txBody>
      </p:sp>
      <p:graphicFrame>
        <p:nvGraphicFramePr>
          <p:cNvPr id="15" name="ROC chart" descr=""/>
          <p:cNvGraphicFramePr/>
          <p:nvPr/>
        </p:nvGraphicFramePr>
        <p:xfrm>
          <a:off x="457200" y="2926080"/>
          <a:ext cx="67665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classification card"/>
          <p:cNvSpPr/>
          <p:nvPr/>
        </p:nvSpPr>
        <p:spPr>
          <a:xfrm>
            <a:off x="7589520" y="3017520"/>
            <a:ext cx="402336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classification heading"/>
          <p:cNvSpPr txBox="1"/>
          <p:nvPr/>
        </p:nvSpPr>
        <p:spPr>
          <a:xfrm>
            <a:off x="781812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Classification</a:t>
            </a:r>
            <a:endParaRPr lang="en-US" sz="1800" dirty="0"/>
          </a:p>
        </p:txBody>
      </p:sp>
      <p:sp>
        <p:nvSpPr>
          <p:cNvPr id="18" name="classification list"/>
          <p:cNvSpPr txBox="1"/>
          <p:nvPr/>
        </p:nvSpPr>
        <p:spPr>
          <a:xfrm>
            <a:off x="7818120" y="36118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73.3% classified correctly at cut-off 0.5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Specificity 85.8%, sensitivity 43.8%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 cut-off 0.297 (sample share) the model finds 79.8% of depressed students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hold across logit, probit and linear probability models</a:t>
            </a:r>
            <a:endParaRPr lang="en-US" sz="3000" dirty="0"/>
          </a:p>
        </p:txBody>
      </p:sp>
      <p:graphicFrame>
        <p:nvGraphicFramePr>
          <p:cNvPr id="3" name="robustness chart" descr=""/>
          <p:cNvGraphicFramePr/>
          <p:nvPr/>
        </p:nvGraphicFramePr>
        <p:xfrm>
          <a:off x="457200" y="1280160"/>
          <a:ext cx="630936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hypothesi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371600"/>
          <a:ext cx="45262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194560"/>
                <a:gridCol w="1645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friend circle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Lower-middle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 ('000)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Weakly (10%)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with family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Weakly (10%)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ubsample note"/>
          <p:cNvSpPr txBox="1"/>
          <p:nvPr/>
        </p:nvSpPr>
        <p:spPr>
          <a:xfrm>
            <a:off x="7086600" y="54406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</a:rPr>
              <a:t>Gender subsamples: being single is a strong risk factor for both men and women.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and money matter more than grades</a:t>
            </a:r>
            <a:endParaRPr lang="en-US" sz="3000" dirty="0"/>
          </a:p>
        </p:txBody>
      </p:sp>
      <p:sp>
        <p:nvSpPr>
          <p:cNvPr id="3" name="Key findings card"/>
          <p:cNvSpPr/>
          <p:nvPr/>
        </p:nvSpPr>
        <p:spPr>
          <a:xfrm>
            <a:off x="54864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1D4A75"/>
          </a:solidFill>
          <a:ln w="12700">
            <a:solidFill>
              <a:srgbClr val="1D4A75"/>
            </a:solidFill>
            <a:prstDash val="solid"/>
          </a:ln>
        </p:spPr>
      </p:sp>
      <p:sp>
        <p:nvSpPr>
          <p:cNvPr id="4" name="Key findings heading"/>
          <p:cNvSpPr txBox="1"/>
          <p:nvPr/>
        </p:nvSpPr>
        <p:spPr>
          <a:xfrm>
            <a:off x="82296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5" name="Key findings list"/>
          <p:cNvSpPr txBox="1"/>
          <p:nvPr/>
        </p:nvSpPr>
        <p:spPr>
          <a:xfrm>
            <a:off x="822960" y="219456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Single students: +36.4 points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Rich family −17.2, ever married −16.4 points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Women more at risk after controls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CGPA, friend circle, living style: no effect</a:t>
            </a:r>
            <a:endParaRPr lang="en-US" sz="1600" dirty="0"/>
          </a:p>
        </p:txBody>
      </p:sp>
      <p:sp>
        <p:nvSpPr>
          <p:cNvPr id="6" name="For universities card"/>
          <p:cNvSpPr/>
          <p:nvPr/>
        </p:nvSpPr>
        <p:spPr>
          <a:xfrm>
            <a:off x="429768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1D4A75"/>
          </a:solidFill>
          <a:ln w="12700">
            <a:solidFill>
              <a:srgbClr val="1D4A75"/>
            </a:solidFill>
            <a:prstDash val="solid"/>
          </a:ln>
        </p:spPr>
      </p:sp>
      <p:sp>
        <p:nvSpPr>
          <p:cNvPr id="7" name="For universities heading"/>
          <p:cNvSpPr txBox="1"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universities</a:t>
            </a:r>
            <a:endParaRPr lang="en-US" sz="2000" dirty="0"/>
          </a:p>
        </p:txBody>
      </p:sp>
      <p:sp>
        <p:nvSpPr>
          <p:cNvPr id="8" name="For universities list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Programmes that reduce loneliness and build close ties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Financial guidance that also reaches middle-income students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Gender-sensitive outreach and screening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Use simple risk scores to prioritise screening</a:t>
            </a:r>
            <a:endParaRPr lang="en-US" sz="1600" dirty="0"/>
          </a:p>
        </p:txBody>
      </p:sp>
      <p:sp>
        <p:nvSpPr>
          <p:cNvPr id="9" name="Limits &amp; next steps card"/>
          <p:cNvSpPr/>
          <p:nvPr/>
        </p:nvSpPr>
        <p:spPr>
          <a:xfrm>
            <a:off x="804672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1D4A75"/>
          </a:solidFill>
          <a:ln w="12700">
            <a:solidFill>
              <a:srgbClr val="1D4A75"/>
            </a:solidFill>
            <a:prstDash val="solid"/>
          </a:ln>
        </p:spPr>
      </p:sp>
      <p:sp>
        <p:nvSpPr>
          <p:cNvPr id="10" name="Limits &amp;amp; next steps heading"/>
          <p:cNvSpPr txBox="1"/>
          <p:nvPr/>
        </p:nvSpPr>
        <p:spPr>
          <a:xfrm>
            <a:off x="832104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&amp; next steps</a:t>
            </a:r>
            <a:endParaRPr lang="en-US" sz="2000" dirty="0"/>
          </a:p>
        </p:txBody>
      </p:sp>
      <p:sp>
        <p:nvSpPr>
          <p:cNvPr id="11" name="Limits &amp; next steps list"/>
          <p:cNvSpPr txBox="1"/>
          <p:nvPr/>
        </p:nvSpPr>
        <p:spPr>
          <a:xfrm>
            <a:off x="8321040" y="219456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Cross-sectional: associations, not causes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Self-reported yes/no depression measure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Follow students over time; use PHQ-9 scale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Larger, multi-region samples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E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 Wellbeing">
  <a:themeElements>
    <a:clrScheme name="Student Wellbeing">
      <a:dk1>
        <a:srgbClr val="1B1F24"/>
      </a:dk1>
      <a:lt1>
        <a:srgbClr val="FFFFFF"/>
      </a:lt1>
      <a:dk2>
        <a:srgbClr val="12355B"/>
      </a:dk2>
      <a:lt2>
        <a:srgbClr val="EEF4F6"/>
      </a:lt2>
      <a:accent1>
        <a:srgbClr val="1B7F8C"/>
      </a:accent1>
      <a:accent2>
        <a:srgbClr val="E07A5F"/>
      </a:accent2>
      <a:accent3>
        <a:srgbClr val="12355B"/>
      </a:accent3>
      <a:accent4>
        <a:srgbClr val="8AB6BF"/>
      </a:accent4>
      <a:accent5>
        <a:srgbClr val="F2CC8F"/>
      </a:accent5>
      <a:accent6>
        <a:srgbClr val="5C6B73"/>
      </a:accent6>
      <a:hlink>
        <a:srgbClr val="1B7F8C"/>
      </a:hlink>
      <a:folHlink>
        <a:srgbClr val="5C6B73"/>
      </a:folHlink>
    </a:clrScheme>
    <a:fontScheme name="Student Wellbe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Determinants of Depression among University Students</dc:title>
  <dc:subject>PptxGenJS Presentation</dc:subject>
  <dc:creator>Atharv Lodhi, Sourav Choudhary, Piyush Bisht</dc:creator>
  <cp:lastModifiedBy>Atharv Lodhi, Sourav Choudhary, Piyush Bisht</cp:lastModifiedBy>
  <cp:revision>1</cp:revision>
  <dcterms:created xsi:type="dcterms:W3CDTF">2026-10-06T11:18:18Z</dcterms:created>
  <dcterms:modified xsi:type="dcterms:W3CDTF">2026-10-06T11:18:18Z</dcterms:modified>
</cp:coreProperties>
</file>